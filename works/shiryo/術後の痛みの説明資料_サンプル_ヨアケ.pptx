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ポートフォリオ用の自主制作サンプル。手術室勤務で実際に聞かれた質問を出発点に、患者向けの説明資料としてまとめたもの。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4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0584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FC9C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手術を受ける方と、ご家族へ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5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手術のあとの痛みと、</a:t>
            </a:r>
            <a:endParaRPr lang="en-US" sz="36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痛み止めの使い方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E2D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「どのくらい痛いですか？」に、正直に答えるための1枚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20624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AAA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自主制作サンプル（架空の病院向けに作成）｜作成：ヨアケ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4400"/>
              </a:lnSpc>
              <a:buNone/>
            </a:pPr>
            <a:r>
              <a:rPr lang="en-US" sz="3000" b="1" dirty="0">
                <a:solidFill>
                  <a:srgbClr val="1C24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手術の前、いちばん多い質問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17904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E4F0EE"/>
          </a:solidFill>
          <a:ln w="12700">
            <a:solidFill>
              <a:srgbClr val="D6E3E0"/>
            </a:solidFill>
            <a:prstDash val="solid"/>
          </a:ln>
          <a:effectLst>
            <a:outerShdw sx="100000" sy="100000" kx="0" ky="0" algn="bl" rotWithShape="0" blurRad="127000" dist="25400" dir="5400000">
              <a:srgbClr val="0E4142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41248" y="1700784"/>
            <a:ext cx="3438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「手術後はどのくらい痛いですか？」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15361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5D6B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この資料の答え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8288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C24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正直に言うと、どのくらい痛いかはお伝えできません。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267004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D6B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痛みの感じ方は人によって違うためです。同じ手術でも、感じ方は変わります。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566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C24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だから、この資料では「どのくらい痛いか」ではなく、痛みを抑えて早く動くために何ができるかをお伝えします。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66344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D6B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自主制作サンプル｜ヨアケ（看護師12年・手術室勤務あり）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4400"/>
              </a:lnSpc>
              <a:buNone/>
            </a:pPr>
            <a:r>
              <a:rPr lang="en-US" sz="3000" b="1" dirty="0">
                <a:solidFill>
                  <a:srgbClr val="1C24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お伝えしたいのは、この3つです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D6B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痛み止めの使い方について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487168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E3E0"/>
            </a:solidFill>
            <a:prstDash val="solid"/>
          </a:ln>
          <a:effectLst>
            <a:outerShdw sx="100000" sy="100000" kx="0" ky="0" algn="bl" rotWithShape="0" blurRad="127000" dist="25400" dir="5400000">
              <a:srgbClr val="0E4142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73936"/>
            <a:ext cx="402336" cy="40233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773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304288"/>
            <a:ext cx="1975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我慢しないで使ってください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072384"/>
            <a:ext cx="19751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D6B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我慢しても、手術の回復が早くなるわけではありません。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73552" y="1554480"/>
            <a:ext cx="2487168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E3E0"/>
            </a:solidFill>
            <a:prstDash val="solid"/>
          </a:ln>
          <a:effectLst>
            <a:outerShdw sx="100000" sy="100000" kx="0" ky="0" algn="bl" rotWithShape="0" blurRad="127000" dist="25400" dir="5400000">
              <a:srgbClr val="0E4142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9584" y="1773936"/>
            <a:ext cx="402336" cy="40233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29584" y="1773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29584" y="2304288"/>
            <a:ext cx="1975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痛くなりそうなときに使えます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529584" y="3072384"/>
            <a:ext cx="19751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D6B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痛みが強くなりきってからでなくてかまいません。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98464" y="1554480"/>
            <a:ext cx="2487168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E3E0"/>
            </a:solidFill>
            <a:prstDash val="solid"/>
          </a:ln>
          <a:effectLst>
            <a:outerShdw sx="100000" sy="100000" kx="0" ky="0" algn="bl" rotWithShape="0" blurRad="127000" dist="25400" dir="5400000">
              <a:srgbClr val="0E4142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54496" y="1773936"/>
            <a:ext cx="402336" cy="40233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54496" y="1773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54496" y="2304288"/>
            <a:ext cx="1975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動く前に使えます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254496" y="3072384"/>
            <a:ext cx="19751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D6B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起き上がる前・歩く前など、動く予定に合わせて使えます。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66344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D6B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自主制作サンプル｜ヨアケ（看護師12年・手術室勤務あり）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4400"/>
              </a:lnSpc>
              <a:buNone/>
            </a:pPr>
            <a:r>
              <a:rPr lang="en-US" sz="3000" b="1" dirty="0">
                <a:solidFill>
                  <a:srgbClr val="1C24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使うタイミングで、つらさが変わります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17904"/>
            <a:ext cx="3886200" cy="2743200"/>
          </a:xfrm>
          <a:prstGeom prst="roundRect">
            <a:avLst>
              <a:gd name="adj" fmla="val 4000"/>
            </a:avLst>
          </a:prstGeom>
          <a:solidFill>
            <a:srgbClr val="F6EEDA"/>
          </a:solidFill>
          <a:ln w="12700">
            <a:solidFill>
              <a:srgbClr val="D6E3E0"/>
            </a:solidFill>
            <a:prstDash val="solid"/>
          </a:ln>
          <a:effectLst>
            <a:outerShdw sx="100000" sy="100000" kx="0" ky="0" algn="bl" rotWithShape="0" blurRad="127000" dist="25400" dir="5400000">
              <a:srgbClr val="0E4142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70078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8A65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痛くなってから使う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310896" cy="310896"/>
          </a:xfrm>
          <a:prstGeom prst="ellipse">
            <a:avLst/>
          </a:prstGeom>
          <a:solidFill>
            <a:srgbClr val="8A651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43584" y="214884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C24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痛みが強くなる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816352"/>
            <a:ext cx="310896" cy="310896"/>
          </a:xfrm>
          <a:prstGeom prst="ellipse">
            <a:avLst/>
          </a:prstGeom>
          <a:solidFill>
            <a:srgbClr val="8A651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816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43584" y="2770632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C24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そこで痛み止めを使う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438144"/>
            <a:ext cx="310896" cy="310896"/>
          </a:xfrm>
          <a:prstGeom prst="ellipse">
            <a:avLst/>
          </a:prstGeom>
          <a:solidFill>
            <a:srgbClr val="8A651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438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43584" y="3392424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C24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効いてくるまでの時間がつらい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1517904"/>
            <a:ext cx="3886200" cy="2743200"/>
          </a:xfrm>
          <a:prstGeom prst="roundRect">
            <a:avLst>
              <a:gd name="adj" fmla="val 4000"/>
            </a:avLst>
          </a:prstGeom>
          <a:solidFill>
            <a:srgbClr val="E4F0EE"/>
          </a:solidFill>
          <a:ln w="12700">
            <a:solidFill>
              <a:srgbClr val="D6E3E0"/>
            </a:solidFill>
            <a:prstDash val="solid"/>
          </a:ln>
          <a:effectLst>
            <a:outerShdw sx="100000" sy="100000" kx="0" ky="0" algn="bl" rotWithShape="0" blurRad="127000" dist="25400" dir="5400000">
              <a:srgbClr val="0E4142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983480" y="170078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痛くなりそうなときに使う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983480" y="2194560"/>
            <a:ext cx="310896" cy="31089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983480" y="2194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04104" y="214884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C24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動く前に使う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83480" y="2816352"/>
            <a:ext cx="310896" cy="31089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983480" y="2816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04104" y="2770632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C24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痛みが上がりきらない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83480" y="3438144"/>
            <a:ext cx="310896" cy="31089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983480" y="3438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04104" y="3392424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C24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起き上がる・歩くがしやすい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35254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D6B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どちらが良いかは、担当の看護師・医師と相談して決めてかまいません。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4400"/>
              </a:lnSpc>
              <a:buNone/>
            </a:pPr>
            <a:r>
              <a:rPr lang="en-US" sz="3000" b="1" dirty="0">
                <a:solidFill>
                  <a:srgbClr val="1C24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痛みを抑えるのは、早く動くためです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26464"/>
            <a:ext cx="8046720" cy="841248"/>
          </a:xfrm>
          <a:prstGeom prst="roundRect">
            <a:avLst>
              <a:gd name="adj" fmla="val 13043"/>
            </a:avLst>
          </a:prstGeom>
          <a:solidFill>
            <a:srgbClr val="E4F0EE"/>
          </a:solidFill>
          <a:ln w="12700">
            <a:solidFill>
              <a:srgbClr val="D6E3E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41248" y="1517904"/>
            <a:ext cx="74615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手術のあとは、早めに起きて動くことが何より大事です（早期離床といいます）。動くことで体の回復が進みます。痛み止めは、そのために使う道具でもあります。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432304"/>
            <a:ext cx="420624" cy="420624"/>
          </a:xfrm>
          <a:prstGeom prst="ellipse">
            <a:avLst/>
          </a:prstGeom>
          <a:solidFill>
            <a:srgbClr val="E4F0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" y="2432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52144" y="238658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C24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起き上がる・座る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52144" y="267919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D6B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痛みが強いと、体を起こすだけで時間がかかります。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3054096"/>
            <a:ext cx="420624" cy="420624"/>
          </a:xfrm>
          <a:prstGeom prst="ellipse">
            <a:avLst/>
          </a:prstGeom>
          <a:solidFill>
            <a:srgbClr val="E4F0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3054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52144" y="300837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C24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歩く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52144" y="3300984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D6B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手術のあとは、早めに歩くようにお願いすることがあります。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675888"/>
            <a:ext cx="420624" cy="420624"/>
          </a:xfrm>
          <a:prstGeom prst="ellipse">
            <a:avLst/>
          </a:prstGeom>
          <a:solidFill>
            <a:srgbClr val="E4F0E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6928" y="3675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" y="363016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C24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咳をする・深く息をする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" y="3922776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D6B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痛くて浅い息のままだと、痰を出しにくくなります。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297680"/>
            <a:ext cx="420624" cy="420624"/>
          </a:xfrm>
          <a:prstGeom prst="ellipse">
            <a:avLst/>
          </a:prstGeom>
          <a:solidFill>
            <a:srgbClr val="E4F0E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66928" y="4297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" y="425196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C24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眠る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" y="4544568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D6B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夜に痛みで目が覚めると、休めません。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4400"/>
              </a:lnSpc>
              <a:buNone/>
            </a:pPr>
            <a:r>
              <a:rPr lang="en-US" sz="3000" b="1" dirty="0">
                <a:solidFill>
                  <a:srgbClr val="1C24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遠慮せずに、こう言ってください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D6B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言い方が分からないときは、そのまま伝えて大丈夫です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8046720" cy="822960"/>
          </a:xfrm>
          <a:prstGeom prst="roundRect">
            <a:avLst>
              <a:gd name="adj" fmla="val 15556"/>
            </a:avLst>
          </a:prstGeom>
          <a:solidFill>
            <a:srgbClr val="E4F0EE"/>
          </a:solidFill>
          <a:ln w="12700">
            <a:solidFill>
              <a:srgbClr val="D6E3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691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「これくらいの痛みでも、痛み止めを使っていいですか？」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8046720" cy="822960"/>
          </a:xfrm>
          <a:prstGeom prst="roundRect">
            <a:avLst>
              <a:gd name="adj" fmla="val 15556"/>
            </a:avLst>
          </a:prstGeom>
          <a:solidFill>
            <a:srgbClr val="E4F0EE"/>
          </a:solidFill>
          <a:ln w="12700">
            <a:solidFill>
              <a:srgbClr val="D6E3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6974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「これから歩く練習なので、先に痛み止めをもらえますか？」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49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C24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痛み止めを使いたいと言うことは、我慢が足りないということではありません。痛みが強いままだと、動くこと・休むことがどちらもしにくくなります。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4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7548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39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覚えていただきたいこと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31520" y="1298448"/>
            <a:ext cx="384048" cy="384048"/>
          </a:xfrm>
          <a:prstGeom prst="ellipse">
            <a:avLst/>
          </a:prstGeom>
          <a:solidFill>
            <a:srgbClr val="1B6F6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1271016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どのくらい痛いかは、人によって違います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865376"/>
            <a:ext cx="384048" cy="384048"/>
          </a:xfrm>
          <a:prstGeom prst="ellipse">
            <a:avLst/>
          </a:prstGeom>
          <a:solidFill>
            <a:srgbClr val="1B6F6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1837944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痛み止めは、我慢せずに使ってください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432304"/>
            <a:ext cx="384048" cy="384048"/>
          </a:xfrm>
          <a:prstGeom prst="ellipse">
            <a:avLst/>
          </a:prstGeom>
          <a:solidFill>
            <a:srgbClr val="1B6F6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2404872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痛くなりそうなとき・動く前に使うこともできます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2999232"/>
            <a:ext cx="384048" cy="384048"/>
          </a:xfrm>
          <a:prstGeom prst="ellipse">
            <a:avLst/>
          </a:prstGeom>
          <a:solidFill>
            <a:srgbClr val="1B6F6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2971800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早く動けることがいちばん大事です。痛みを抑えるのはそのためです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3657600"/>
            <a:ext cx="7680960" cy="786384"/>
          </a:xfrm>
          <a:prstGeom prst="roundRect">
            <a:avLst>
              <a:gd name="adj" fmla="val 11628"/>
            </a:avLst>
          </a:prstGeom>
          <a:solidFill>
            <a:srgbClr val="16504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3739896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9E2D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痛み止めの種類・使える回数・間隔は、手術の内容や体の状態によって決まります。実際に使うときは、担当の看護師・医師の指示を確認してください。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53542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7FAAA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自主制作サンプル（架空の病院向け）｜作成：ヨアケ｜https://yoake-writer.github.io/portfolio/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手術のあとの痛みと、痛み止めの使い方</dc:title>
  <dc:subject>PptxGenJS Presentation</dc:subject>
  <dc:creator>ヨアケ</dc:creator>
  <cp:lastModifiedBy>ヨアケ</cp:lastModifiedBy>
  <cp:revision>1</cp:revision>
  <dcterms:created xsi:type="dcterms:W3CDTF">2026-08-27T10:29:20Z</dcterms:created>
  <dcterms:modified xsi:type="dcterms:W3CDTF">2026-08-27T10:29:20Z</dcterms:modified>
</cp:coreProperties>
</file>